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926080"/>
          </a:xfrm>
          <a:prstGeom prst="rect">
            <a:avLst/>
          </a:prstGeom>
          <a:solidFill>
            <a:srgbClr val="2F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B9BD5"/>
                </a:solidFill>
              </a:defRPr>
            </a:pPr>
            <a:r>
              <a:t>国立青少年教育施設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環境マッピングマップ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0D0F0"/>
                </a:solidFill>
              </a:defRPr>
            </a:pPr>
            <a:r>
              <a:t>使い方ガイド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</a:defRPr>
            </a:pPr>
            <a:r>
              <a:t>高校「情報II」データサイエンス授業用 ─ 全国29施設の環境データをインタラクティブに可視化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12191695" cy="73152"/>
          </a:xfrm>
          <a:prstGeom prst="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FAABB"/>
                </a:solidFill>
              </a:defRPr>
            </a:pPr>
            <a:r>
              <a:t>温度 🌡  湿度 💧  照度 💡  CO2 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FAAB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画面構成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7772400" cy="5029200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【マップ画面全体のスクリーンショット】</a:t>
            </a:r>
            <a:br/>
            <a:br/>
            <a:r>
              <a:t>ブラウザで index.html を開いた状態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005840"/>
            <a:ext cx="3657600" cy="749808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10241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060"/>
                </a:solidFill>
              </a:defRPr>
            </a:pPr>
            <a:r>
              <a:t>❶ ヘッダー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29844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6080"/>
                </a:solidFill>
              </a:defRPr>
            </a:pPr>
            <a:r>
              <a:t>アプリタイトル、シリアル接続ボタン、</a:t>
            </a:r>
            <a:br/>
            <a:r>
              <a:t>動作モード表示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828800"/>
            <a:ext cx="3657600" cy="749808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8470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060"/>
                </a:solidFill>
              </a:defRPr>
            </a:pPr>
            <a:r>
              <a:t>❷ コントロールバー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2140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6080"/>
                </a:solidFill>
              </a:defRPr>
            </a:pPr>
            <a:r>
              <a:t>季節（春夏秋冬）と時間帯（朝昼夕夜）</a:t>
            </a:r>
            <a:br/>
            <a:r>
              <a:t>の切替ボタン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651760"/>
            <a:ext cx="3657600" cy="749808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6700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060"/>
                </a:solidFill>
              </a:defRPr>
            </a:pPr>
            <a:r>
              <a:t>❸ 左パネル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443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6080"/>
                </a:solidFill>
              </a:defRPr>
            </a:pPr>
            <a:r>
              <a:t>全施設の平均値サマリー（温度/湿度/</a:t>
            </a:r>
            <a:br/>
            <a:r>
              <a:t>照度/CO2）と施設一覧カード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474720"/>
            <a:ext cx="3657600" cy="749808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493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060"/>
                </a:solidFill>
              </a:defRPr>
            </a:pPr>
            <a:r>
              <a:t>❹ 中央マップ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76732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6080"/>
                </a:solidFill>
              </a:defRPr>
            </a:pPr>
            <a:r>
              <a:t>Leaflet地図上に29施設のマーカー表示</a:t>
            </a:r>
            <a:br/>
            <a:r>
              <a:t>快適スコアを色分け（75～:快適 ～35:不快）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4297680"/>
            <a:ext cx="3657600" cy="749808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3159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060"/>
                </a:solidFill>
              </a:defRPr>
            </a:pPr>
            <a:r>
              <a:t>❺ 右パネル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5902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6080"/>
                </a:solidFill>
              </a:defRPr>
            </a:pPr>
            <a:r>
              <a:t>データサイエンス分析（6タブ）</a:t>
            </a:r>
            <a:br/>
            <a:r>
              <a:t>季節/分布/相関/時系列/異常値/CSV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5120640"/>
            <a:ext cx="3657600" cy="749808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513892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060"/>
                </a:solidFill>
              </a:defRPr>
            </a:pPr>
            <a:r>
              <a:t>❻ 凡例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41324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6080"/>
                </a:solidFill>
              </a:defRPr>
            </a:pPr>
            <a:r>
              <a:t>快適スコアの色分けと</a:t>
            </a:r>
            <a:br/>
            <a:r>
              <a:t>施設種別（交流/自然/その他）の表示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国立青少年教育施設 環境マッピングマップ 使い方ガイド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FAAB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使い方 4つのステップ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5669280" cy="2651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143000"/>
            <a:ext cx="1005840" cy="365760"/>
          </a:xfrm>
          <a:prstGeom prst="roundRect">
            <a:avLst/>
          </a:prstGeom>
          <a:solidFill>
            <a:srgbClr val="2F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1556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060"/>
                </a:solidFill>
              </a:defRPr>
            </a:pPr>
            <a:r>
              <a:t>ブラウザでアクセス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00200"/>
            <a:ext cx="2377440" cy="1874519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【ブラウザでURLを入力している画面】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600200"/>
            <a:ext cx="2788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index.html をChromeまたはEdgeで開きます。</a:t>
            </a:r>
            <a:br/>
            <a:r>
              <a:t>インターネット接続が必要です（地図タイル読込）。</a:t>
            </a:r>
            <a:br/>
            <a:r>
              <a:t>GitHub Pagesからもアクセス可能です。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05840"/>
            <a:ext cx="5669280" cy="2651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143000"/>
            <a:ext cx="1005840" cy="365760"/>
          </a:xfrm>
          <a:prstGeom prst="roundRect">
            <a:avLst/>
          </a:prstGeom>
          <a:solidFill>
            <a:srgbClr val="2F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111556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060"/>
                </a:solidFill>
              </a:defRPr>
            </a:pPr>
            <a:r>
              <a:t>季節・時間帯を選択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00200"/>
            <a:ext cx="2377440" cy="1874519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【コントロールバーの拡大スクリーンショット】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600200"/>
            <a:ext cx="2788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画面上部のコントロールバーで季節（🌸春/☀️夏/🍂秋/❄️冬）と</a:t>
            </a:r>
            <a:br/>
            <a:r>
              <a:t>時間帯（🌅朝/☀️昼/🌇夕/🌙夜）を切替えます。</a:t>
            </a:r>
            <a:br/>
            <a:r>
              <a:t>選択するとマップ上の全施設のデータが即座に更新されます。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840480"/>
            <a:ext cx="5669280" cy="2651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3977640"/>
            <a:ext cx="1005840" cy="365760"/>
          </a:xfrm>
          <a:prstGeom prst="roundRect">
            <a:avLst/>
          </a:prstGeom>
          <a:solidFill>
            <a:srgbClr val="2F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5020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060"/>
                </a:solidFill>
              </a:defRPr>
            </a:pPr>
            <a:r>
              <a:t>施設をクリック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434840"/>
            <a:ext cx="2377440" cy="1874519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【マーカークリックでポップアップが表示された画面】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4434840"/>
            <a:ext cx="2788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地図上のマーカーまたは左パネルの施設カードを</a:t>
            </a:r>
            <a:br/>
            <a:r>
              <a:t>クリックすると、その施設の詳細データ（温度/湿度/</a:t>
            </a:r>
            <a:br/>
            <a:r>
              <a:t>照度/CO2とバーグラフ）がポップアップ表示されます。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40480"/>
            <a:ext cx="5669280" cy="2651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3977640"/>
            <a:ext cx="1005840" cy="365760"/>
          </a:xfrm>
          <a:prstGeom prst="roundRect">
            <a:avLst/>
          </a:prstGeom>
          <a:solidFill>
            <a:srgbClr val="2F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395020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060"/>
                </a:solidFill>
              </a:defRPr>
            </a:pPr>
            <a:r>
              <a:t>データを分析する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4434840"/>
            <a:ext cx="2377440" cy="1874519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【右パネルの分析タブのスクリーンショット】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434840"/>
            <a:ext cx="2788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右パネルのタブを切替えてデータサイエンス分析を行います。</a:t>
            </a:r>
            <a:br/>
            <a:r>
              <a:t>分布・相関・時系列・異常値検知の各ツールで</a:t>
            </a:r>
            <a:br/>
            <a:r>
              <a:t>データの傾向やパターンを発見しましょう。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国立青少年教育施設 環境マッピングマップ 使い方ガイド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FAAB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センサーデータの見方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743200" cy="53035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AA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2743200" cy="914400"/>
          </a:xfrm>
          <a:prstGeom prst="round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🌡 温度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433"/>
                </a:solidFill>
              </a:defRPr>
            </a:pPr>
            <a:r>
              <a:t>単位: ℃　範囲: -5〜40℃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23160"/>
            <a:ext cx="2377440" cy="3657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✅ 快適範囲: 17〜28℃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2377440" cy="1280160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🌡 温度</a:t>
            </a:r>
            <a:br/>
            <a:r>
              <a:t>バーグラフ表示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6080"/>
                </a:solidFill>
              </a:defRPr>
            </a:pPr>
            <a:r>
              <a:t>季節や標高による変化が大きいセンサーです。</a:t>
            </a:r>
            <a:br/>
            <a:r>
              <a:t>緯度が高い（北の）施設ほど気温が低い傾向があり、</a:t>
            </a:r>
            <a:br/>
            <a:r>
              <a:t>標高が高い施設も低温になります。</a:t>
            </a:r>
            <a:br/>
            <a:r>
              <a:t>冬の朝は特に低く、夏の昼が最も高くなります。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005840"/>
            <a:ext cx="2743200" cy="53035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E8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1005840"/>
            <a:ext cx="2743200" cy="914400"/>
          </a:xfrm>
          <a:prstGeom prst="roundRect">
            <a:avLst/>
          </a:prstGeom>
          <a:solidFill>
            <a:srgbClr val="2E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💧 湿度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433"/>
                </a:solidFill>
              </a:defRPr>
            </a:pPr>
            <a:r>
              <a:t>単位: %　範囲: 20〜100%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423160"/>
            <a:ext cx="2377440" cy="3657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✅ 快適範囲: 30〜70%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926080"/>
            <a:ext cx="2377440" cy="1280160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💧 湿度</a:t>
            </a:r>
            <a:br/>
            <a:r>
              <a:t>バーグラフ表示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297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6080"/>
                </a:solidFill>
              </a:defRPr>
            </a:pPr>
            <a:r>
              <a:t>空気中の水蒸気量の割合を示します。</a:t>
            </a:r>
            <a:br/>
            <a:r>
              <a:t>夏は高め、冬は低めになります。</a:t>
            </a:r>
            <a:br/>
            <a:r>
              <a:t>沿岸部の施設は内陸部より湿度が高い</a:t>
            </a:r>
            <a:br/>
            <a:r>
              <a:t>傾向があります。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005840"/>
            <a:ext cx="2743200" cy="53035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E88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1005840"/>
            <a:ext cx="2743200" cy="914400"/>
          </a:xfrm>
          <a:prstGeom prst="roundRect">
            <a:avLst/>
          </a:prstGeom>
          <a:solidFill>
            <a:srgbClr val="E88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💡 照度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433"/>
                </a:solidFill>
              </a:defRPr>
            </a:pPr>
            <a:r>
              <a:t>単位: lx　範囲: 0〜1500lx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423160"/>
            <a:ext cx="2377440" cy="3657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✅ 快適範囲: 300〜750lx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926080"/>
            <a:ext cx="2377440" cy="1280160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💡 照度</a:t>
            </a:r>
            <a:br/>
            <a:r>
              <a:t>バーグラフ表示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97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6080"/>
                </a:solidFill>
              </a:defRPr>
            </a:pPr>
            <a:r>
              <a:t>光の明るさを示すセンサーです。</a:t>
            </a:r>
            <a:br/>
            <a:r>
              <a:t>時間帯による変動が最も大きく、</a:t>
            </a:r>
            <a:br/>
            <a:r>
              <a:t>昼間は最も高く、夜間はほぼ0になります。</a:t>
            </a:r>
            <a:br/>
            <a:r>
              <a:t>季節では夏が最も明るくなります。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005840"/>
            <a:ext cx="2743200" cy="53035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0" y="1005840"/>
            <a:ext cx="274320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🌿 CO2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433"/>
                </a:solidFill>
              </a:defRPr>
            </a:pPr>
            <a:r>
              <a:t>単位: ppm　範囲: 300〜1200ppm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2423160"/>
            <a:ext cx="2377440" cy="3657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✅ 快適範囲: 350〜1000ppm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2926080"/>
            <a:ext cx="2377440" cy="1280160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🌿 CO2</a:t>
            </a:r>
            <a:br/>
            <a:r>
              <a:t>バーグラフ表示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297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6080"/>
                </a:solidFill>
              </a:defRPr>
            </a:pPr>
            <a:r>
              <a:t>二酸化炭素濃度を示します。</a:t>
            </a:r>
            <a:br/>
            <a:r>
              <a:t>屋内施設では人の活動により上昇します。</a:t>
            </a:r>
            <a:br/>
            <a:r>
              <a:t>昼間の活動時間帯は高く、</a:t>
            </a:r>
            <a:br/>
            <a:r>
              <a:t>夜間や朝方は低めになります。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国立青少年教育施設 環境マッピングマップ 使い方ガイド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FAAB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施設の詳細を見る（ポップアップ）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486400" cy="5029200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【地図上でマーカーをクリックして</a:t>
            </a:r>
            <a:br/>
            <a:r>
              <a:t>ポップアップが表示された画面】</a:t>
            </a:r>
            <a:br/>
            <a:br/>
            <a:r>
              <a:t>施設名・地域・標高・快適スコアと</a:t>
            </a:r>
            <a:br/>
            <a:r>
              <a:t>4つのセンサー値がバーグラフで表示される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486400" cy="1828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060"/>
                </a:solidFill>
              </a:defRPr>
            </a:pPr>
            <a:r>
              <a:t>ポップアップの構成</a:t>
            </a:r>
          </a:p>
          <a:p>
            <a:pPr>
              <a:spcBef>
                <a:spcPts val="400"/>
              </a:spcBef>
              <a:defRPr sz="1400" b="0">
                <a:solidFill>
                  <a:srgbClr val="4A6080"/>
                </a:solidFill>
              </a:defRPr>
            </a:pPr>
            <a:r>
              <a:t>🏷 施設名・種別バッジ（交流/自然/その他）</a:t>
            </a:r>
          </a:p>
          <a:p>
            <a:pPr>
              <a:spcBef>
                <a:spcPts val="400"/>
              </a:spcBef>
              <a:defRPr sz="1400" b="0">
                <a:solidFill>
                  <a:srgbClr val="4A6080"/>
                </a:solidFill>
              </a:defRPr>
            </a:pPr>
            <a:r>
              <a:t>📍 地域名・緯度・標高</a:t>
            </a:r>
          </a:p>
          <a:p>
            <a:pPr>
              <a:spcBef>
                <a:spcPts val="400"/>
              </a:spcBef>
              <a:defRPr sz="1400" b="0">
                <a:solidFill>
                  <a:srgbClr val="4A6080"/>
                </a:solidFill>
              </a:defRPr>
            </a:pPr>
            <a:r>
              <a:t>🎯 快適スコア（0〜100点）</a:t>
            </a:r>
          </a:p>
          <a:p>
            <a:pPr>
              <a:spcBef>
                <a:spcPts val="400"/>
              </a:spcBef>
              <a:defRPr sz="1400" b="0">
                <a:solidFill>
                  <a:srgbClr val="4A6080"/>
                </a:solidFill>
              </a:defRPr>
            </a:pPr>
            <a:r>
              <a:t>📊 各センサーのバーグラフと数値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48640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32004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060"/>
                </a:solidFill>
              </a:defRPr>
            </a:pPr>
            <a:r>
              <a:t>マーカーの見方</a:t>
            </a:r>
          </a:p>
          <a:p>
            <a:pPr>
              <a:spcBef>
                <a:spcPts val="300"/>
              </a:spcBef>
              <a:defRPr sz="1300" b="0">
                <a:solidFill>
                  <a:srgbClr val="4A6080"/>
                </a:solidFill>
              </a:defRPr>
            </a:pPr>
            <a:r>
              <a:t>🟢 75点以上 → 快適（緑）</a:t>
            </a:r>
          </a:p>
          <a:p>
            <a:pPr>
              <a:spcBef>
                <a:spcPts val="300"/>
              </a:spcBef>
              <a:defRPr sz="1300" b="0">
                <a:solidFill>
                  <a:srgbClr val="4A6080"/>
                </a:solidFill>
              </a:defRPr>
            </a:pPr>
            <a:r>
              <a:t>🟡 55〜75点 → 良好（黄緑）</a:t>
            </a:r>
          </a:p>
          <a:p>
            <a:pPr>
              <a:spcBef>
                <a:spcPts val="300"/>
              </a:spcBef>
              <a:defRPr sz="1300" b="0">
                <a:solidFill>
                  <a:srgbClr val="4A6080"/>
                </a:solidFill>
              </a:defRPr>
            </a:pPr>
            <a:r>
              <a:t>🟠 35〜55点 → 普通（黄色）</a:t>
            </a:r>
          </a:p>
          <a:p>
            <a:pPr>
              <a:spcBef>
                <a:spcPts val="300"/>
              </a:spcBef>
              <a:defRPr sz="1300" b="0">
                <a:solidFill>
                  <a:srgbClr val="4A6080"/>
                </a:solidFill>
              </a:defRPr>
            </a:pPr>
            <a:r>
              <a:t>🔴 35点未満 → 不快（赤）</a:t>
            </a:r>
          </a:p>
          <a:p>
            <a:pPr>
              <a:spcBef>
                <a:spcPts val="300"/>
              </a:spcBef>
              <a:defRPr sz="1300" b="0">
                <a:solidFill>
                  <a:srgbClr val="4A6080"/>
                </a:solidFill>
              </a:defRPr>
            </a:pPr>
            <a:r>
              <a:t>枠色: 🟠 交流の家 / 🟢 自然の家 / 🔵 その他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54880"/>
            <a:ext cx="548640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8463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060"/>
                </a:solidFill>
              </a:defRPr>
            </a:pPr>
            <a:r>
              <a:t>左パネルの施設カード</a:t>
            </a:r>
          </a:p>
          <a:p>
            <a:pPr>
              <a:spcBef>
                <a:spcPts val="600"/>
              </a:spcBef>
              <a:defRPr sz="1300" b="0">
                <a:solidFill>
                  <a:srgbClr val="4A6080"/>
                </a:solidFill>
              </a:defRPr>
            </a:pPr>
            <a:r>
              <a:t>施設カードをクリック → マップが自動でズーム＆ポップアップ表示</a:t>
            </a:r>
          </a:p>
          <a:p>
            <a:pPr>
              <a:spcBef>
                <a:spcPts val="600"/>
              </a:spcBef>
              <a:defRPr sz="1300" b="0">
                <a:solidFill>
                  <a:srgbClr val="4A6080"/>
                </a:solidFill>
              </a:defRPr>
            </a:pPr>
            <a:r>
              <a:t>各カードには施設名・地域・4センサーの小さなバーグラフ・リング状のスコア表示</a:t>
            </a:r>
          </a:p>
          <a:p>
            <a:pPr>
              <a:spcBef>
                <a:spcPts val="600"/>
              </a:spcBef>
              <a:defRPr sz="1300" b="0">
                <a:solidFill>
                  <a:srgbClr val="4A6080"/>
                </a:solidFill>
              </a:defRPr>
            </a:pPr>
            <a:r>
              <a:t>施設は「交流の家」「自然の家」「その他」でグループ分けされています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国立青少年教育施設 環境マッピングマップ 使い方ガイド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FAAB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データの分析方法（右パネル 6タブ）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3749039" cy="265176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3AA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3749039" cy="502920"/>
          </a:xfrm>
          <a:prstGeom prst="round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🕐 季節タブ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1645920" cy="1874519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【季節タブの画面】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4592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現在の季節・時間帯のパターン情報と</a:t>
            </a:r>
            <a:br/>
            <a:r>
              <a:t>全施設の平均値を表示。</a:t>
            </a:r>
            <a:br/>
            <a:r>
              <a:t>データサイエンスのヒントも掲載。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05840"/>
            <a:ext cx="3749039" cy="265176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F6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40" y="1005840"/>
            <a:ext cx="3749039" cy="502920"/>
          </a:xfrm>
          <a:prstGeom prst="roundRect">
            <a:avLst/>
          </a:prstGeom>
          <a:solidFill>
            <a:srgbClr val="2F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📊 分布タブ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1645920" cy="1874519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【ヒストグラムと箱ひげ図】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4592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ヒストグラム・箱ひげ図・基本統計量</a:t>
            </a:r>
            <a:br/>
            <a:r>
              <a:t>（平均・中央値・標準偏差・最小・最大）</a:t>
            </a:r>
            <a:br/>
            <a:r>
              <a:t>を表示。項目を切替可能。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05840"/>
            <a:ext cx="3749039" cy="265176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E85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502920"/>
          </a:xfrm>
          <a:prstGeom prst="roundRect">
            <a:avLst/>
          </a:prstGeom>
          <a:solidFill>
            <a:srgbClr val="E85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📈 相関タブ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00200"/>
            <a:ext cx="1645920" cy="1874519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【散布図と回帰直線】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164592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2変数の散布図と回帰直線を表示。</a:t>
            </a:r>
            <a:br/>
            <a:r>
              <a:t>相関係数(r)を自動計算。</a:t>
            </a:r>
            <a:br/>
            <a:r>
              <a:t>緯度×温度、標高×温度などを分析。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840480"/>
            <a:ext cx="3749039" cy="265176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E88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" y="3840480"/>
            <a:ext cx="3749039" cy="502920"/>
          </a:xfrm>
          <a:prstGeom prst="roundRect">
            <a:avLst/>
          </a:prstGeom>
          <a:solidFill>
            <a:srgbClr val="E88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📉 時系列タブ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434840"/>
            <a:ext cx="1645920" cy="1874519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【時系列折れ線グラフ】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48056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選択した施設の時間帯別推移を</a:t>
            </a:r>
            <a:br/>
            <a:r>
              <a:t>折れ線グラフで比較。</a:t>
            </a:r>
            <a:br/>
            <a:r>
              <a:t>交流/自然で一括選択も可能。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840480"/>
            <a:ext cx="3749039" cy="265176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E55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06240" y="3840480"/>
            <a:ext cx="3749039" cy="502920"/>
          </a:xfrm>
          <a:prstGeom prst="roundRect">
            <a:avLst/>
          </a:prstGeom>
          <a:solidFill>
            <a:srgbClr val="E5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⚠️ 異常値タブ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434840"/>
            <a:ext cx="1645920" cy="1874519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【異常値検知リスト】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48056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平均±2σ（標準偏差）で</a:t>
            </a:r>
            <a:br/>
            <a:r>
              <a:t>異常値を自動検知。</a:t>
            </a:r>
            <a:br/>
            <a:r>
              <a:t>施設名・z値・方向を表示。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840480"/>
            <a:ext cx="3749039" cy="265176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3840480"/>
            <a:ext cx="3749039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💾 CSVタブ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434840"/>
            <a:ext cx="1645920" cy="1874519"/>
          </a:xfrm>
          <a:prstGeom prst="roundRect">
            <a:avLst/>
          </a:prstGeom>
          <a:solidFill>
            <a:srgbClr val="E8EDF2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6080"/>
                </a:solidFill>
              </a:defRPr>
            </a:pPr>
            <a:r>
              <a:t>【CSVダウンロード画面】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480560"/>
            <a:ext cx="1691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現在のパターン（29行）または</a:t>
            </a:r>
            <a:br/>
            <a:r>
              <a:t>全16パターン（464行）を</a:t>
            </a:r>
            <a:br/>
            <a:r>
              <a:t>CSVファイルでダウンロード。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国立青少年教育施設 環境マッピングマップ 使い方ガイド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FAAB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アクセスURL・授業での活用アイデア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1430000" cy="1188720"/>
          </a:xfrm>
          <a:prstGeom prst="round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9BD5"/>
                </a:solidFill>
              </a:defRPr>
            </a:pPr>
            <a:r>
              <a:t>🌐 アクセスURL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https://shiojima-test.github.io/niye-comfort-map/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560320"/>
            <a:ext cx="3611880" cy="1828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060"/>
                </a:solidFill>
              </a:defRPr>
            </a:pPr>
            <a:r>
              <a:t>📊 データ分析演習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全施設のCSVデータをダウンロードし、スプレッドシートで</a:t>
            </a:r>
            <a:br/>
            <a:r>
              <a:t>平均値・標準偏差を計算。季節ごとの変化をグラフ化しよう。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560320"/>
            <a:ext cx="3611880" cy="1828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6517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060"/>
                </a:solidFill>
              </a:defRPr>
            </a:pPr>
            <a:r>
              <a:t>📈 相関分析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06324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相関タブで「緯度×温度」「標高×温度」を選択し、</a:t>
            </a:r>
            <a:br/>
            <a:r>
              <a:t>相関係数と回帰直線から地理的な傾向を読み取ろう。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60320"/>
            <a:ext cx="3611880" cy="1828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6517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060"/>
                </a:solidFill>
              </a:defRPr>
            </a:pPr>
            <a:r>
              <a:t>🔍 異常値の発見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6324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異常値タブで平均±2σの外れ値を確認。</a:t>
            </a:r>
            <a:br/>
            <a:r>
              <a:t>なぜその施設が異常値になるのか、地理的要因を考察しよう。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572000"/>
            <a:ext cx="3611880" cy="1828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060"/>
                </a:solidFill>
              </a:defRPr>
            </a:pPr>
            <a:r>
              <a:t>🌡 リアルタイム計測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Schoomyセンサーをシリアル接続し、教室の環境データを</a:t>
            </a:r>
            <a:br/>
            <a:r>
              <a:t>リアルタイムで取得。施設データと比較分析しよう。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572000"/>
            <a:ext cx="3611880" cy="1828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6634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060"/>
                </a:solidFill>
              </a:defRPr>
            </a:pPr>
            <a:r>
              <a:t>🗺 地理×データ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07492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地図上のマーカーの色分けから、日本の南北の気温差や</a:t>
            </a:r>
            <a:br/>
            <a:r>
              <a:t>標高による環境変化のパターンを視覚的に発見しよう。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572000"/>
            <a:ext cx="3611880" cy="1828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6634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060"/>
                </a:solidFill>
              </a:defRPr>
            </a:pPr>
            <a:r>
              <a:t>📝 レポート作成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07492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6080"/>
                </a:solidFill>
              </a:defRPr>
            </a:pPr>
            <a:r>
              <a:t>分布・相関・時系列・異常値の分析結果をまとめ、</a:t>
            </a:r>
            <a:br/>
            <a:r>
              <a:t>「環境データから読み取れること」をレポートにしよう。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国立青少年教育施設 環境マッピングマップ 使い方ガイド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FAAB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